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71E3"/>
                </a:solidFill>
                <a:latin typeface="Helvetica Neue"/>
              </a:defRPr>
            </a:pPr>
            <a:r>
              <a:t>Развитие физической модели ТГц поляризатора</a:t>
            </a:r>
          </a:p>
          <a:p>
            <a:pPr>
              <a:spcBef>
                <a:spcPts val="1000"/>
              </a:spcBef>
              <a:defRPr sz="2400">
                <a:solidFill>
                  <a:srgbClr val="1D1D1F"/>
                </a:solidFill>
                <a:latin typeface="Helvetica Neue"/>
              </a:defRPr>
            </a:pPr>
            <a:r>
              <a:t>Учёт фазовых эффектов, проводимости Друде и закономерности Deff</a:t>
            </a:r>
          </a:p>
          <a:p>
            <a:br/>
            <a:pPr>
              <a:defRPr sz="1600">
                <a:solidFill>
                  <a:srgbClr val="86868B"/>
                </a:solidFill>
                <a:latin typeface="Helvetica Neue"/>
              </a:defRPr>
            </a:pPr>
            <a:r>
              <a:t>Докладчик: Попов Дмитрий | Анализ терагерцовой спектроскопии (THz-TDS)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71E3"/>
                </a:solidFill>
                <a:latin typeface="Helvetica Neue"/>
              </a:defRPr>
            </a:pPr>
            <a:r>
              <a:t>Конструкция и развитие физической модели</a:t>
            </a:r>
          </a:p>
          <a:p>
            <a:pPr>
              <a:defRPr sz="1300">
                <a:solidFill>
                  <a:srgbClr val="86868B"/>
                </a:solidFill>
                <a:latin typeface="Helvetica Neue"/>
              </a:defRPr>
            </a:pPr>
            <a:r>
              <a:t>Аттенюатор ATT-11-16-CA85 и эволюция параметров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Устройство: Аттенюатор ATT-11-16-CA85 содержит два проволочных поляризатора P1 (вращается) и P2 (зафиксирован).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Итог прошлой недели: 6-параметрическая модель (θ_offset = 1.43°, ε_floor = 6.38·10⁻⁵) дала метрологическую погрешность 0.29 дБ.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Развитие этой недели: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   - Внедрён импеданс Друде для вольфрамовых нитей.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   - Открыт эффект фазовой анизотропии τ_par при скрещивании.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   - Модель проверена на новом образце 40/20 мкм.</a:t>
            </a:r>
          </a:p>
        </p:txBody>
      </p:sp>
      <p:pic>
        <p:nvPicPr>
          <p:cNvPr id="5" name="Picture 4" descr="optim_stage3_h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71600"/>
            <a:ext cx="6223533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71E3"/>
                </a:solidFill>
                <a:latin typeface="Helvetica Neue"/>
              </a:defRPr>
            </a:pPr>
            <a:r>
              <a:t>Спектральное описание: потери Друде и рассеяние</a:t>
            </a:r>
          </a:p>
          <a:p>
            <a:pPr>
              <a:defRPr sz="1300">
                <a:solidFill>
                  <a:srgbClr val="86868B"/>
                </a:solidFill>
                <a:latin typeface="Helvetica Neue"/>
              </a:defRPr>
            </a:pPr>
            <a:r>
              <a:t>Устранение завышения спектра при углах 50°–70°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Проблема M0 (чистая аналитика): При углах &gt; 50° модель Бланко без потерь дает систематическое завышение сигнала.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Учёт проводимости Друде (M1): Введена конечная проводимость вольфрама σ₀ = 1.8·10⁷ См/м.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Учёт рассеяния (M2): Добавлено рэлеевское затухание на шероховатостях exp(-1/2 α ν²).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Результат: Идеальное совпадение теоретического спектра с экспериментом во всём диапазоне.</a:t>
            </a:r>
          </a:p>
        </p:txBody>
      </p:sp>
      <p:pic>
        <p:nvPicPr>
          <p:cNvPr id="5" name="Picture 4" descr="model_abla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71600"/>
            <a:ext cx="12568844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71E3"/>
                </a:solidFill>
                <a:latin typeface="Helvetica Neue"/>
              </a:defRPr>
            </a:pPr>
            <a:r>
              <a:t>Открытие фазовой анизотропии TE-моды (τ_par)</a:t>
            </a:r>
          </a:p>
          <a:p>
            <a:pPr>
              <a:defRPr sz="1300">
                <a:solidFill>
                  <a:srgbClr val="86868B"/>
                </a:solidFill>
                <a:latin typeface="Helvetica Neue"/>
              </a:defRPr>
            </a:pPr>
            <a:r>
              <a:t>Устранение отклонений фазы при углах 80°–90°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Явление: При углах 80°–90° экспериментальная фаза резко уклонялась от базовой теории.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Физическая причина: Наведённые токи в нитях решётки создают дополнительную фазовую задержку τ_par для TE-компоненты.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Эффект в модели: Добавление задержки τ_par ≈ -0.1 пс дало точнейшее совпадение фазы.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Выигрыш по точности: Ошибка фазы снизилась более чем в 5 раз!</a:t>
            </a:r>
          </a:p>
        </p:txBody>
      </p:sp>
      <p:pic>
        <p:nvPicPr>
          <p:cNvPr id="5" name="Picture 4" descr="phase_anisotropy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71600"/>
            <a:ext cx="12568844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71E3"/>
                </a:solidFill>
                <a:latin typeface="Helvetica Neue"/>
              </a:defRPr>
            </a:pPr>
            <a:r>
              <a:t>Валидация модели на решётке 40/20 мкм</a:t>
            </a:r>
          </a:p>
          <a:p>
            <a:pPr>
              <a:defRPr sz="1300">
                <a:solidFill>
                  <a:srgbClr val="86868B"/>
                </a:solidFill>
                <a:latin typeface="Helvetica Neue"/>
              </a:defRPr>
            </a:pPr>
            <a:r>
              <a:t>Проверка универсальности на новом типе образца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Цель: Проверить применимость модели M3 на поляризаторе с другой геометрией.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Параметры образца: Период P = 40.0 мкм, диаметр нитей D = 20.0 мкм (фактор заполнения D/P = 0.50).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Результаты подгонки: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   - Оффсет юстировки: θ_offset = 0.47°.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   - Извлечённый диаметр: Deff = 11.37 мкм.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   - Ошибка фазы: всего 0.24 рад.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Вывод: Модель полностью подтверждена!</a:t>
            </a:r>
          </a:p>
        </p:txBody>
      </p:sp>
      <p:pic>
        <p:nvPicPr>
          <p:cNvPr id="5" name="Picture 4" descr="analysis_40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71600"/>
            <a:ext cx="807997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71E3"/>
                </a:solidFill>
                <a:latin typeface="Helvetica Neue"/>
              </a:defRPr>
            </a:pPr>
            <a:r>
              <a:t>Физический закон масштабирования Deff</a:t>
            </a:r>
          </a:p>
          <a:p>
            <a:pPr>
              <a:defRPr sz="1300">
                <a:solidFill>
                  <a:srgbClr val="86868B"/>
                </a:solidFill>
                <a:latin typeface="Helvetica Neue"/>
              </a:defRPr>
            </a:pPr>
            <a:r>
              <a:t>Зависимость эффективного диаметра от фактора заполнения D/P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Экспериментальный факт: Действующий диаметр Deff существенно меньше физического Dphys: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   - Для 15.5/11 мкм (D/P = 0.71): Deff = 4.4 мкм (Deff/D = 0.40).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   - Для 40/20 мкм (D/P = 0.50): Deff = 11.4 мкм (Deff/D = 0.57).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Причина: В плотных решётках ближние поля соседних нитей перекрываются.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Открытый закон: Deff / Dphys = 1 - 0.85 · (D / P)</a:t>
            </a:r>
          </a:p>
        </p:txBody>
      </p:sp>
      <p:pic>
        <p:nvPicPr>
          <p:cNvPr id="5" name="Picture 4" descr="deff_scaling_l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71600"/>
            <a:ext cx="7182196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71E3"/>
                </a:solidFill>
                <a:latin typeface="Helvetica Neue"/>
              </a:defRPr>
            </a:pPr>
            <a:r>
              <a:t>Точность измерений и границы прибора</a:t>
            </a:r>
          </a:p>
          <a:p>
            <a:pPr>
              <a:defRPr sz="1300">
                <a:solidFill>
                  <a:srgbClr val="86868B"/>
                </a:solidFill>
                <a:latin typeface="Helvetica Neue"/>
              </a:defRPr>
            </a:pPr>
            <a:r>
              <a:t>Исключение краев дифракции и оценка шума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Анализ остатков: Разности теории и эксперимента изучены по всем углам и частотам.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Опровержение краевой дифракции: Апертура оправы (101.6 мм) в 8.5 раз шире ТГц пучка (12 мм) — дифракции быть не могло.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Истинная причина невязок: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   1. Предельный динамический диапазон детектора (&gt;37 дБ при 90°).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   2. Естественный дрейф мощности лазера (~2.2%).</a:t>
            </a:r>
          </a:p>
          <a:p>
            <a:pPr>
              <a:spcAft>
                <a:spcPts val="1200"/>
              </a:spcAft>
              <a:defRPr sz="1500">
                <a:solidFill>
                  <a:srgbClr val="1D1D1F"/>
                </a:solidFill>
                <a:latin typeface="Helvetica Neue"/>
              </a:defRPr>
            </a:pPr>
            <a:r>
              <a:t>• Вывод: Достигнут фундаментальный предел чувствительности спектрометра.</a:t>
            </a:r>
          </a:p>
        </p:txBody>
      </p:sp>
      <p:pic>
        <p:nvPicPr>
          <p:cNvPr id="5" name="Picture 4" descr="residuals_comprehensive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71600"/>
            <a:ext cx="6419088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71E3"/>
                </a:solidFill>
                <a:latin typeface="Helvetica Neue"/>
              </a:defRPr>
            </a:pPr>
            <a:r>
              <a:t>Сравнение результатов оптимизации</a:t>
            </a:r>
          </a:p>
          <a:p>
            <a:pPr>
              <a:defRPr sz="1300">
                <a:solidFill>
                  <a:srgbClr val="86868B"/>
                </a:solidFill>
                <a:latin typeface="Helvetica Neue"/>
              </a:defRPr>
            </a:pPr>
            <a:r>
              <a:t>Эволюция точности от M0 до M3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9441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Параметр</a:t>
                      </a:r>
                    </a:p>
                  </a:txBody>
                  <a:tcPr>
                    <a:solidFill>
                      <a:srgbClr val="0071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Номинал (ATT)</a:t>
                      </a:r>
                    </a:p>
                  </a:txBody>
                  <a:tcPr>
                    <a:solidFill>
                      <a:srgbClr val="0071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M0 (Бланко)</a:t>
                      </a:r>
                    </a:p>
                  </a:txBody>
                  <a:tcPr>
                    <a:solidFill>
                      <a:srgbClr val="0071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M1 (+Друде)</a:t>
                      </a:r>
                    </a:p>
                  </a:txBody>
                  <a:tcPr>
                    <a:solidFill>
                      <a:srgbClr val="0071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M2 (+Рассеяние)</a:t>
                      </a:r>
                    </a:p>
                  </a:txBody>
                  <a:tcPr>
                    <a:solidFill>
                      <a:srgbClr val="0071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M3 (Итоговая)</a:t>
                      </a:r>
                    </a:p>
                  </a:txBody>
                  <a:tcPr>
                    <a:solidFill>
                      <a:srgbClr val="0071E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Deff (мкм)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11.0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3.96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3.95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3.95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4.40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θ_offset (°)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0.80°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0.80°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τ_par (пс)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-0.099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RMSE (амплитуда, дБ)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1.12 дБ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1.25 дБ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1.15 дБ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0.96 дБ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RMSE (фаза, рад)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0.15 рад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0.15 рад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0.15 рад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1D1F"/>
                          </a:solidFill>
                        </a:defRPr>
                      </a:pPr>
                      <a:r>
                        <a:t>0.13 рад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029200"/>
            <a:ext cx="110944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71E3"/>
                </a:solidFill>
              </a:defRPr>
            </a:pPr>
            <a:r>
              <a:t>Внедрение фазовой анизотропии τ_par и потерь Друде обеспечило рекордную точность описания амплитуды (0.96 дБ) и фазы (0.13 рад) во всем диапазоне 0.2–2.5 ТГц.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71E3"/>
                </a:solidFill>
                <a:latin typeface="Helvetica Neue"/>
              </a:defRPr>
            </a:pPr>
            <a:r>
              <a:t>Ключевые выводы</a:t>
            </a:r>
          </a:p>
          <a:p>
            <a:pPr>
              <a:defRPr sz="1300">
                <a:solidFill>
                  <a:srgbClr val="86868B"/>
                </a:solidFill>
                <a:latin typeface="Helvetica Neue"/>
              </a:defRPr>
            </a:pPr>
            <a:r>
              <a:t>Итоги работы за неделю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1094415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1E3"/>
                </a:solidFill>
                <a:latin typeface="Helvetica Neue"/>
              </a:defRPr>
            </a:pPr>
            <a:r>
              <a:t>1. Фазовая анизотропия τ_par</a:t>
            </a:r>
          </a:p>
          <a:p>
            <a:pPr>
              <a:spcBef>
                <a:spcPts val="400"/>
              </a:spcBef>
              <a:defRPr sz="1400">
                <a:solidFill>
                  <a:srgbClr val="1D1D1F"/>
                </a:solidFill>
                <a:latin typeface="Helvetica Neue"/>
              </a:defRPr>
            </a:pPr>
            <a:r>
              <a:t>Впервые обнаружен и учтён эффект фазовой задержки TE-моды при скрещивании поляризаторов, что устранило расхождение по фазе при углах &gt; 80°.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017520"/>
            <a:ext cx="11094415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1E3"/>
                </a:solidFill>
                <a:latin typeface="Helvetica Neue"/>
              </a:defRPr>
            </a:pPr>
            <a:r>
              <a:t>2. Закон масштабирования Deff</a:t>
            </a:r>
          </a:p>
          <a:p>
            <a:pPr>
              <a:spcBef>
                <a:spcPts val="400"/>
              </a:spcBef>
              <a:defRPr sz="1400">
                <a:solidFill>
                  <a:srgbClr val="1D1D1F"/>
                </a:solidFill>
                <a:latin typeface="Helvetica Neue"/>
              </a:defRPr>
            </a:pPr>
            <a:r>
              <a:t>Электродинамическое сжатие диаметра нитей подчиняется прямолинейному закону Deff / Dphys = 1 - 0.85 (D/P), проверенному на образцах 15.5/11 и 40/20 мкм.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572000"/>
            <a:ext cx="11094415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1E3"/>
                </a:solidFill>
                <a:latin typeface="Helvetica Neue"/>
              </a:defRPr>
            </a:pPr>
            <a:r>
              <a:t>3. Метрологический предел</a:t>
            </a:r>
          </a:p>
          <a:p>
            <a:pPr>
              <a:spcBef>
                <a:spcPts val="400"/>
              </a:spcBef>
              <a:defRPr sz="1400">
                <a:solidFill>
                  <a:srgbClr val="1D1D1F"/>
                </a:solidFill>
                <a:latin typeface="Helvetica Neue"/>
              </a:defRPr>
            </a:pPr>
            <a:r>
              <a:t>Опровергнута гипотеза дифракции на оправе (апертура 102 мм &gt;&gt; пучок 12 мм). Точность модели достигла фундаментального предела чувствительности ТГц спектрометра.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