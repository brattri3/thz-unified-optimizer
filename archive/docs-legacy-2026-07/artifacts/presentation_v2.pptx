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71E3"/>
                </a:solidFill>
              </a:defRPr>
            </a:pPr>
            <a:r>
              <a:t>Развитие физической модели ТГц поляризатора</a:t>
            </a:r>
          </a:p>
          <a:p>
            <a:pPr>
              <a:spcBef>
                <a:spcPts val="800"/>
              </a:spcBef>
              <a:defRPr sz="2200">
                <a:solidFill>
                  <a:srgbClr val="1D1D1F"/>
                </a:solidFill>
              </a:defRPr>
            </a:pPr>
            <a:r>
              <a:t>Учёт фазовых эффектов, проводимости Друде и закономерности Deff</a:t>
            </a:r>
          </a:p>
          <a:p>
            <a:br/>
            <a:pPr>
              <a:defRPr sz="1500">
                <a:solidFill>
                  <a:srgbClr val="86868B"/>
                </a:solidFill>
              </a:defRPr>
            </a:pPr>
            <a:r>
              <a:t>Докладчик: Попов Дмитрий | Анализ терагерцовой спектроскопии (THz-TDS)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E3"/>
                </a:solidFill>
                <a:latin typeface="Helvetica Neue"/>
              </a:defRPr>
            </a:pPr>
            <a:r>
              <a:t>Конструкция и развитие физической модели</a:t>
            </a:r>
          </a:p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r>
              <a:t>Аттенюатор ATT-11-16-CA85 и эволюция параметров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Устройство: Аттенюатор ATT-11-16-CA85 (P1 вращается, P2 фиксирован).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Итог прошлой недели: 6-параметрическая модель дала RMSE = 0.29 дБ.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Новое развитие этой недели: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- Переход к комплексной аппроксимации (амплитуда + фаза).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- Внедрён импеданс Друде для вольфрамовых нитей.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- Учтена фазовая анизотропия τ_par при скрещивании.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- Модель проверена на новом образце 40/20 мкм.</a:t>
            </a:r>
          </a:p>
        </p:txBody>
      </p:sp>
      <p:pic>
        <p:nvPicPr>
          <p:cNvPr id="5" name="Picture 4" descr="optim_stage3_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633878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E3"/>
                </a:solidFill>
                <a:latin typeface="Helvetica Neue"/>
              </a:defRPr>
            </a:pPr>
            <a:r>
              <a:t>Спектральное описание: потери Друде и рассеяние</a:t>
            </a:r>
          </a:p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r>
              <a:t>Устранение завышения спектра при углах 50°–70°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Проблема M0: При углах &gt; 50° чистая аналитика Бланко завышает сигнал.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Друде (M1): Конечная проводимость вольфрама σ₀ = 1.8·10⁷ См/м снижает уровень.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Рассеяние (M2): Рэлеевское затухание на шероховатостях (Manabe &amp; Murk, IEEE TAP, 2005).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Результат: Точное воспроизведение спектра на всех углах в диапазоне 0.2–1.5 ТГц.</a:t>
            </a:r>
          </a:p>
        </p:txBody>
      </p:sp>
      <p:pic>
        <p:nvPicPr>
          <p:cNvPr id="5" name="Picture 4" descr="pres_slide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455022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E3"/>
                </a:solidFill>
                <a:latin typeface="Helvetica Neue"/>
              </a:defRPr>
            </a:pPr>
            <a:r>
              <a:t>Комплексная аппроксимация и фазовая анизотропия τ_par</a:t>
            </a:r>
          </a:p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r>
              <a:t>Устранение отклонений фазы при углах 80°–90°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Комплексный анализ: Одновременная подгонка |E| и фазы (Castro-Camus, 2012).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Физический эффект: На углах 80°–90° TE-мода испытывает фазовую задержку τ_par.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Результат: Учёт τ_par ≈ -0.1 пс снижает ошибку фазы более чем в 5 раз.</a:t>
            </a:r>
          </a:p>
        </p:txBody>
      </p:sp>
      <p:pic>
        <p:nvPicPr>
          <p:cNvPr id="5" name="Picture 4" descr="pres_slide4_tau_p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495588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E3"/>
                </a:solidFill>
                <a:latin typeface="Helvetica Neue"/>
              </a:defRPr>
            </a:pPr>
            <a:r>
              <a:t>Валидация модели на решётке 40/20 мкм</a:t>
            </a:r>
          </a:p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r>
              <a:t>Проверка универсальности на новом типе образца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Образец: Период P = 40.0 мкм, нить D = 20.0 мкм (D/P = 0.50).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Результаты подгонки M3: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- Оффсет юстировки: θ_offset = 0.47°.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- Извлечённый диаметр: Deff = 11.37 мкм.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- RMSE: 0.96 дБ (амплитуда), 0.24 рад (фаза).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Вывод: Модель универсальна для различных геометрий WGP.</a:t>
            </a:r>
          </a:p>
        </p:txBody>
      </p:sp>
      <p:pic>
        <p:nvPicPr>
          <p:cNvPr id="5" name="Picture 4" descr="pres_slide5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455022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E3"/>
                </a:solidFill>
                <a:latin typeface="Helvetica Neue"/>
              </a:defRPr>
            </a:pPr>
            <a:r>
              <a:t>Физический закон масштабирования Deff</a:t>
            </a:r>
          </a:p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r>
              <a:t>Зависимость эффективного диаметра от фактора заполнения D/P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Электродинамическое сжатие: Deff &lt; Dphys из-за перекрытия ближних полей нитей: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- 15.5/11 мкм (D/P = 0.71): Deff/D = 0.40.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- 40/20 мкм (D/P = 0.50): Deff/D = 0.57.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Открытый закон: Deff / Dphys = 1 - 0.85 · (D / P)</a:t>
            </a:r>
          </a:p>
        </p:txBody>
      </p:sp>
      <p:pic>
        <p:nvPicPr>
          <p:cNvPr id="5" name="Picture 4" descr="pres_slide6_deff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641859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E3"/>
                </a:solidFill>
                <a:latin typeface="Helvetica Neue"/>
              </a:defRPr>
            </a:pPr>
            <a:r>
              <a:t>Точность измерений и границы прибора</a:t>
            </a:r>
          </a:p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r>
              <a:t>Исключение краев дифракции и оценка шума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Опровержение краевой дифракции: Апертура оправы (101.6 мм) в 8.5 раз шире пучка (12 мм) — дифракция физически исключена.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Причина остатков: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1. Динамический предел детектора (&gt;37 дБ при 90°).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   2. Дрейф мощности лазера (~2.2%).</a:t>
            </a:r>
          </a:p>
          <a:p>
            <a:pPr>
              <a:spcAft>
                <a:spcPts val="800"/>
              </a:spcAft>
              <a:defRPr sz="1350">
                <a:solidFill>
                  <a:srgbClr val="1D1D1F"/>
                </a:solidFill>
                <a:latin typeface="Helvetica Neue"/>
              </a:defRPr>
            </a:pPr>
            <a:r>
              <a:t>• Вывод: Достигнут предел точности спектрометра.</a:t>
            </a:r>
          </a:p>
        </p:txBody>
      </p:sp>
      <p:pic>
        <p:nvPicPr>
          <p:cNvPr id="5" name="Picture 4" descr="residuals_comprehensiv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65379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E3"/>
                </a:solidFill>
                <a:latin typeface="Helvetica Neue"/>
              </a:defRPr>
            </a:pPr>
            <a:r>
              <a:t>Сравнение результатов оптимизации</a:t>
            </a:r>
          </a:p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r>
              <a:t>Эволюция точности от M0 до M3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441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Номинал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M0 (Бланко)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M1 (+Друде)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M2 (+Рассеяние)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M3 (Итоговая)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Deff (мкм)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3.96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4.40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θ_offset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0.80°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0.80°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τ_par (пс)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-0.099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RMSE (амплитуда)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1.12 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1.25 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1.15 дБ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0.96 дБ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RMSE (фаза)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0.15 рад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0.15 рад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0.15 рад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D1D1F"/>
                          </a:solidFill>
                        </a:defRPr>
                      </a:pPr>
                      <a:r>
                        <a:t>0.13 рад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1E3"/>
                </a:solidFill>
              </a:defRPr>
            </a:pPr>
            <a:r>
              <a:t>Учёт фазовой анизотропии τ_par и потерь Друде обеспечил рекордную точность описания амплитуды (0.96 дБ) и фазы (0.13 рад) в диапазоне 0.2–1.5 ТГц.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E3"/>
                </a:solidFill>
                <a:latin typeface="Helvetica Neue"/>
              </a:defRPr>
            </a:pPr>
            <a:r>
              <a:t>Ключевые выводы</a:t>
            </a:r>
          </a:p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r>
              <a:t>Итоги работы за неделю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1E3"/>
                </a:solidFill>
              </a:defRPr>
            </a:pPr>
            <a:r>
              <a:t>1. Комплексная аппроксимация и τ_par</a:t>
            </a:r>
          </a:p>
          <a:p>
            <a:pPr>
              <a:spcBef>
                <a:spcPts val="300"/>
              </a:spcBef>
              <a:defRPr sz="1300">
                <a:solidFill>
                  <a:srgbClr val="1D1D1F"/>
                </a:solidFill>
              </a:defRPr>
            </a:pPr>
            <a:r>
              <a:t>Впервые учтена фазовая задержка TE-моды при скрещивании поляризаторов, что устранило расхождение фазы при углах &gt; 80°.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1094415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1E3"/>
                </a:solidFill>
              </a:defRPr>
            </a:pPr>
            <a:r>
              <a:t>2. Закон масштабирования Deff</a:t>
            </a:r>
          </a:p>
          <a:p>
            <a:pPr>
              <a:spcBef>
                <a:spcPts val="300"/>
              </a:spcBef>
              <a:defRPr sz="1300">
                <a:solidFill>
                  <a:srgbClr val="1D1D1F"/>
                </a:solidFill>
              </a:defRPr>
            </a:pPr>
            <a:r>
              <a:t>Выведено прямолинейное соотношение Deff / Dphys = 1 - 0.85 (D/P), подтверждённое на образцах 15.5/11 и 40/20 мкм.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1094415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1E3"/>
                </a:solidFill>
              </a:defRPr>
            </a:pPr>
            <a:r>
              <a:t>3. Метрологический предел</a:t>
            </a:r>
          </a:p>
          <a:p>
            <a:pPr>
              <a:spcBef>
                <a:spcPts val="300"/>
              </a:spcBef>
              <a:defRPr sz="1300">
                <a:solidFill>
                  <a:srgbClr val="1D1D1F"/>
                </a:solidFill>
              </a:defRPr>
            </a:pPr>
            <a:r>
              <a:t>Исключена гипотеза дифракции на оправе (апертура 102 мм &gt;&gt; пучок 12 мм). Модель достигла фундаментального предела чувствительности ТГц спектрометра.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